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8" r:id="rId9"/>
    <p:sldId id="260" r:id="rId10"/>
    <p:sldId id="261" r:id="rId11"/>
    <p:sldId id="267" r:id="rId12"/>
    <p:sldId id="269" r:id="rId19"/>
    <p:sldId id="270" r:id="rId20"/>
    <p:sldId id="271" r:id="rId21"/>
    <p:sldId id="272" r:id="rId22"/>
    <p:sldId id="273" r:id="rId23"/>
    <p:sldId id="274" r:id="rId24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63" d="100"/>
          <a:sy n="63" d="100"/>
        </p:scale>
        <p:origin x="102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  <Relationship Id="rId19" Type="http://schemas.openxmlformats.org/officeDocument/2006/relationships/slide" Target="slides/slide13.xml"/>
  <Relationship Id="rId20" Type="http://schemas.openxmlformats.org/officeDocument/2006/relationships/slide" Target="slides/slide14.xml"/>
  <Relationship Id="rId21" Type="http://schemas.openxmlformats.org/officeDocument/2006/relationships/slide" Target="slides/slide15.xml"/>
  <Relationship Id="rId22" Type="http://schemas.openxmlformats.org/officeDocument/2006/relationships/slide" Target="slides/slide16.xml"/>
  <Relationship Id="rId23" Type="http://schemas.openxmlformats.org/officeDocument/2006/relationships/slide" Target="slides/slide17.xml"/>
  <Relationship Id="rId24" Type="http://schemas.openxmlformats.org/officeDocument/2006/relationships/slide" Target="slides/slide18.xml"/>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5758D1-797C-4ADE-918B-C0D3313BE2BC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63B20B-7219-48EB-B29B-D5DFA5269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470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EA347-A7CA-625B-BE06-44AB39368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5067D7-C640-4E18-0E7E-34C967F78E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B48E7-4012-DA3F-602B-B0C224283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27-03-26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C56A4-3D38-A16A-6F81-FDB4867D6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EFFC3-5C0C-DA08-4AF8-0DA73E5A5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443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E1FB9-4D31-C363-7C81-145B006C5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1DC94-C1F5-3D53-AEA9-0CC4CB5D3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66678-6BA7-7B2B-EFB9-278E31CAC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27-03-26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6EAEA-2C28-1B18-BF35-99D18431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BDA94-C731-968F-353B-CF441F66B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504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78593-906C-9B59-5EAB-024A4C2A9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4035E-2532-CA31-88D2-AD1A08F6A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78FA4-A127-FD6F-4C23-B665E4443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27-03-26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1ECC9-40A1-93EB-8520-95DDDA02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0B989-8AD9-690A-D05E-D8EDFEBBC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761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673E6-1012-840B-2BC6-883881A37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34572-DE79-B923-64B6-55D7B697B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C4DE84-58BD-4DB4-94DF-7A27A77396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5B449-9C6A-E7CA-D189-A6129B734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27-03-26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87AC8-91D0-9C0F-5BBF-493533F36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A1333D-A6A7-0172-97E1-C1D27A9B5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327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95E00-0D5B-8E36-E9BC-3E0BE2168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B6560-4EE2-1EB1-9BEF-1332CC4EF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129E74-FD1A-D041-3F07-F10D84971B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E7991E-AA84-D42B-2438-2E2BBD75CA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1150CA-5C7C-D1C7-4679-5285854D43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43FACD-C943-5D29-C69F-C7CBDEA1F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27-03-26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4CB0C1-8E1A-0440-E735-E520D2030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52EBB4-6788-C844-D12D-94A9A3796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92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39BC-A239-7489-A2F8-5FAE5D65B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F88F-618C-6BAF-5F4E-68BAF50B4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27-03-26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3F640-8284-6246-9BCF-EE30EBA45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CBFCF7-E678-6037-AC4E-F97A57AA6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240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8C66F6-4B0D-D022-82F7-8FEEABC8C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27-03-26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F29D8D-61F2-055D-D031-1ED506E8E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E9AB2-34F5-54A5-D1A1-3E59260DE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777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DF94E-5A2F-56F3-7C3E-5A8E59E25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B6BEC-65BA-A5C4-FAC5-47FC82623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2C1EC9-2822-BD88-0879-B718ED5D9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23EAE-9225-E605-10DB-C51E22B92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27-03-26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7F8CC3-0A42-56C2-15A4-47D773779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8ECF2-4344-0B51-B14C-E2AB3BE0A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561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2EE2F-8346-E3D8-A901-8F80F0169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0135A7-B386-6636-B2E4-4C79F91FB4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4F48BE-896B-DF19-FF28-4E1D5DD187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9322F-4B6D-53C4-632B-C523871C9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27-03-26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5A5A7-4AA4-D87B-D2CD-6B7E6AF64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38860F-2CAD-DB3C-8FAB-10E8F97C5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259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C808A-02A3-6574-F5F2-F8E42B6D4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DFD66F-85A1-C031-D9F7-63F6213C4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7377B-7605-74A8-876C-6E9DAA367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27-03-26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CA403-FD97-70D8-A69B-4059F335F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FB3C6-3B31-1612-704B-F8FB50CBB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357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BD2C44-2154-5E02-DE80-9BC532A295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03968-FD5B-BEC2-8E2A-58EBC6544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1C213-CF14-ACCE-D0F9-6E240361D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27-03-26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3B824-907A-91FC-EF4B-250964B86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84366-7217-2F3F-9806-1B8DC52DC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06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80D533-6D20-D34A-DDCD-4DF081968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E3CCC-AA15-1CB8-BDDF-875498E1F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8BBC4-008F-D950-4EDB-41F4B45A8D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27-03-26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509AA-C4F8-23E6-3C82-C3A5DD969E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31864-B863-2DCF-BC94-D20D685156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1CE1F-198B-4538-8015-D27AAC91B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807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C4641-E2BD-9480-16F0-86E73AA1F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48426"/>
            <a:ext cx="9144000" cy="1380608"/>
          </a:xfrm>
        </p:spPr>
        <p:txBody>
          <a:bodyPr>
            <a:noAutofit/>
          </a:bodyPr>
          <a:lstStyle/>
          <a:p>
            <a:r>
              <a:rPr lang="en-US" sz="4000" dirty="0"/>
              <a:t>Agentic </a:t>
            </a:r>
            <a:r>
              <a:rPr lang="en-US" sz="4000" dirty="0" err="1"/>
              <a:t>FedGrid</a:t>
            </a:r>
            <a:r>
              <a:rPr lang="en-US" sz="4000" dirty="0"/>
              <a:t>: Autonomous Privacy-Preserving Threat Detection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EC4282-E52D-A27F-E8C0-89D5E0989C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9017" y="4329034"/>
            <a:ext cx="9144000" cy="1655762"/>
          </a:xfrm>
        </p:spPr>
        <p:txBody>
          <a:bodyPr>
            <a:normAutofit fontScale="92500" lnSpcReduction="20000"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 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Mohith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 M-1JS23IS090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Anusha B-1JS23IS016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Lokesh Kumar Yadav-1JS22IS065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Rohan C Ravi-1JS24IS410</a:t>
            </a:r>
          </a:p>
        </p:txBody>
      </p:sp>
      <p:pic>
        <p:nvPicPr>
          <p:cNvPr id="7" name="Picture 6" descr="A logo with a white circle and red text&#10;&#10;Description automatically generated">
            <a:extLst>
              <a:ext uri="{FF2B5EF4-FFF2-40B4-BE49-F238E27FC236}">
                <a16:creationId xmlns:a16="http://schemas.microsoft.com/office/drawing/2014/main" id="{1BA38A2A-E555-FB49-32C2-91C70DA990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1292" y="352743"/>
            <a:ext cx="3219450" cy="12192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2DD053E-2223-201B-9FA3-8D3FCFEA8519}"/>
              </a:ext>
            </a:extLst>
          </p:cNvPr>
          <p:cNvSpPr txBox="1">
            <a:spLocks/>
          </p:cNvSpPr>
          <p:nvPr/>
        </p:nvSpPr>
        <p:spPr>
          <a:xfrm>
            <a:off x="1456167" y="1517109"/>
            <a:ext cx="9597390" cy="101185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3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Science Engineering </a:t>
            </a:r>
          </a:p>
          <a:p>
            <a:r>
              <a:rPr lang="en-IN" sz="33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Year Project 2025-26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28F450F-C6B8-6C2E-12A2-DC209A18A41B}"/>
              </a:ext>
            </a:extLst>
          </p:cNvPr>
          <p:cNvSpPr txBox="1">
            <a:spLocks/>
          </p:cNvSpPr>
          <p:nvPr/>
        </p:nvSpPr>
        <p:spPr>
          <a:xfrm>
            <a:off x="2182527" y="2425359"/>
            <a:ext cx="7976235" cy="5977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Progress &amp; Results Review</a:t>
            </a:r>
          </a:p>
        </p:txBody>
      </p:sp>
    </p:spTree>
    <p:extLst>
      <p:ext uri="{BB962C8B-B14F-4D97-AF65-F5344CB8AC3E}">
        <p14:creationId xmlns:p14="http://schemas.microsoft.com/office/powerpoint/2010/main" val="2035909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8CAD5-8C99-738A-5D5B-9C4B28324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9220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800DD-62DA-F0B2-29FA-20896C1C3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1626"/>
            <a:ext cx="10515600" cy="4074794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IN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Problem Statement</a:t>
            </a:r>
          </a:p>
          <a:p>
            <a:pPr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IN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IN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IN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 &amp; Key Deliverables</a:t>
            </a:r>
          </a:p>
          <a:p>
            <a:pPr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IN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&amp; Tech Stack (As Built)</a:t>
            </a:r>
          </a:p>
          <a:p>
            <a:pPr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IN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 Results</a:t>
            </a:r>
          </a:p>
          <a:p>
            <a:pPr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IN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Live Deployment, Engineering Challenges &amp; Limitations</a:t>
            </a:r>
          </a:p>
          <a:p>
            <a:pPr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IN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9FA2E-4528-98F1-9C97-DE1782FD1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21-09-26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EC52F-8B80-0C9B-BE78-4EE0C06FB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C4B4B-6A57-6538-9F2D-8046934A6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768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8CAD5-8C99-738A-5D5B-9C4B28324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092200"/>
          </a:xfrm>
        </p:spPr>
        <p:txBody>
          <a:bodyPr>
            <a:normAutofit/>
          </a:bodyPr>
          <a:lstStyle/>
          <a:p>
            <a:r>
              <a:rPr lang="en-IN" sz="4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800DD-62DA-F0B2-29FA-20896C1C3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8725"/>
            <a:ext cx="10515600" cy="4963983"/>
          </a:xfrm>
        </p:spPr>
        <p:txBody>
          <a:bodyPr>
            <a:normAutofit/>
          </a:bodyPr>
          <a:lstStyle/>
          <a:p>
            <a:r>
              <a:rPr lang="en-US" dirty="0"/>
              <a:t>Traditional centralized intrusion detection compromises privacy and incurs high cloud costs. We built </a:t>
            </a:r>
            <a:r>
              <a:rPr lang="en-US" b="1" dirty="0"/>
              <a:t>Agentic </a:t>
            </a:r>
            <a:r>
              <a:rPr lang="en-US" b="1" dirty="0" err="1"/>
              <a:t>FedGrid</a:t>
            </a:r>
            <a:r>
              <a:rPr lang="en-US" dirty="0"/>
              <a:t>, a decentralized framework of autonomous edge agents, and deployed it end-to-end: four EC2 edge nodes running a Tabular Transformer + LoRA classifier, a serverless AWS backend (API Gateway, Lambda, DynamoDB, S3) running real synchronous FedAvg rounds, and an explainable React dashboard — with only LoRA adapter weights ever crossing the wire, never raw traffic. Across four seeds, federated learning demonstrably recovers detection of a completely held-out attack class the global model was never trained on, without a single raw packet leaving the edge.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1DD81-5A72-D8B9-59E7-78C0BBE6F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21-09-26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75801-8C06-DD85-42C8-1BE3BBBE8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F332D-771D-D220-88B6-778FEB095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163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A861A-55E7-3AAF-909C-01988AFD8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546F6-C0C6-FA57-68B5-CF6A24C58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9592"/>
            <a:ext cx="10515600" cy="477737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The Problem Statement (The Need)</a:t>
            </a:r>
            <a:endParaRPr lang="en-US" dirty="0"/>
          </a:p>
          <a:p>
            <a:pPr lvl="1"/>
            <a:r>
              <a:rPr lang="en-US" sz="3400" b="1" dirty="0"/>
              <a:t>The Privacy Bottleneck:</a:t>
            </a:r>
            <a:r>
              <a:rPr lang="en-US" sz="3400" dirty="0"/>
              <a:t> Organizations cannot legally or safely share sensitive network traffic logs to train centralized AI models.</a:t>
            </a:r>
          </a:p>
          <a:p>
            <a:pPr lvl="1"/>
            <a:r>
              <a:rPr lang="en-US" sz="3400" b="1" dirty="0"/>
              <a:t>Failing Defenses:</a:t>
            </a:r>
            <a:r>
              <a:rPr lang="en-US" sz="3400" dirty="0"/>
              <a:t> Traditional rule-based firewalls and static Intrusion Detection Systems (IDS) are ineffective against complex zero-day attacks and Advanced Persistent Threats (APTs).</a:t>
            </a:r>
          </a:p>
          <a:p>
            <a:pPr lvl="1"/>
            <a:r>
              <a:rPr lang="en-US" sz="3400" b="1" dirty="0"/>
              <a:t>Cost &amp; Latency:</a:t>
            </a:r>
            <a:r>
              <a:rPr lang="en-US" sz="3400" dirty="0"/>
              <a:t> Uploading massive amounts of raw edge-device data to the cloud for security analysis is too slow and heavily inflates cloud computing costs.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83A70-9C9E-261D-1060-95B3FFE83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21-09-26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C1CDB-73AE-B30C-082E-9874BFDD9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11D1E-876F-1B97-E309-1FBADEF3D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961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7814"/>
            <a:ext cx="10515600" cy="766445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38200" y="937260"/>
            <a:ext cx="10515600" cy="523970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Major Objective of the project</a:t>
            </a:r>
          </a:p>
          <a:p>
            <a:r>
              <a:rPr lang="en-US" sz="2400" dirty="0"/>
              <a:t>To engineer a decentralized, privacy-preserving Intrusion Detection System (IDS) that detects and neutralizes zero-day threats at the edge without ever exposing raw network logs to the cloud.</a:t>
            </a:r>
          </a:p>
          <a:p>
            <a:pPr marL="0" indent="0">
              <a:buNone/>
            </a:pPr>
            <a:r>
              <a:rPr lang="en-US" sz="2400" b="1" dirty="0"/>
              <a:t>Important Goals</a:t>
            </a:r>
            <a:endParaRPr lang="en-US" sz="2400" dirty="0"/>
          </a:p>
          <a:p>
            <a:r>
              <a:rPr lang="en-US" sz="2400" b="1" dirty="0"/>
              <a:t>Autonomous Edge Defense:</a:t>
            </a:r>
            <a:r>
              <a:rPr lang="en-US" sz="2400" dirty="0"/>
              <a:t> Deploy Agentic AI nodes capable of locally monitoring traffic and blocking malicious payloads in real-time without cloud authorization.</a:t>
            </a:r>
          </a:p>
          <a:p>
            <a:r>
              <a:rPr lang="en-US" sz="2400" b="1" dirty="0"/>
              <a:t>Privacy-Preserving Collaboration:</a:t>
            </a:r>
            <a:r>
              <a:rPr lang="en-US" sz="2400" dirty="0"/>
              <a:t> Implement Federated Learning (</a:t>
            </a:r>
            <a:r>
              <a:rPr lang="en-US" sz="2400" dirty="0" err="1"/>
              <a:t>FedAvg</a:t>
            </a:r>
            <a:r>
              <a:rPr lang="en-US" sz="2400" dirty="0"/>
              <a:t>) so nodes share </a:t>
            </a:r>
            <a:r>
              <a:rPr lang="en-US" sz="2400" i="1" dirty="0"/>
              <a:t>only</a:t>
            </a:r>
            <a:r>
              <a:rPr lang="en-US" sz="2400" dirty="0"/>
              <a:t> mathematical intelligence, keeping all user data strictly on-device.</a:t>
            </a:r>
          </a:p>
          <a:p>
            <a:r>
              <a:rPr lang="en-US" sz="2400" b="1" dirty="0"/>
              <a:t>Zero-Cost Orchestration:</a:t>
            </a:r>
            <a:r>
              <a:rPr lang="en-US" sz="2400" dirty="0"/>
              <a:t> Architect a highly scalable, serverless cloud backend to securely aggregate AI weights at zero compute cost.</a:t>
            </a:r>
          </a:p>
          <a:p>
            <a:r>
              <a:rPr lang="en-US" sz="2400" b="1" dirty="0"/>
              <a:t>Advanced Pattern Recognition:</a:t>
            </a:r>
            <a:r>
              <a:rPr lang="en-US" sz="2400" dirty="0"/>
              <a:t> Utilize Tabular Transformers to detect the hidden, sequential patterns of complex attacks like Advanced Persistent Threats (APTs</a:t>
            </a:r>
            <a:r>
              <a:rPr lang="en-US" sz="1600" dirty="0"/>
              <a:t>).</a:t>
            </a:r>
          </a:p>
          <a:p>
            <a:pPr marL="0" indent="0">
              <a:buNone/>
            </a:pPr>
            <a:r>
              <a:rPr lang="en-US" sz="2000" i="1" dirty="0"/>
              <a:t>Status: all four objectives implemented, deployed, and measured against held-out data — see Evaluation Results and Live Deployment ahead.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21-09-26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171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6571"/>
            <a:ext cx="10515600" cy="615821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474F023-BD49-652C-2510-4D4838E622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5791504"/>
              </p:ext>
            </p:extLst>
          </p:nvPr>
        </p:nvGraphicFramePr>
        <p:xfrm>
          <a:off x="287695" y="1102841"/>
          <a:ext cx="11616610" cy="5135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4823">
                  <a:extLst>
                    <a:ext uri="{9D8B030D-6E8A-4147-A177-3AD203B41FA5}">
                      <a16:colId xmlns:a16="http://schemas.microsoft.com/office/drawing/2014/main" val="118478506"/>
                    </a:ext>
                  </a:extLst>
                </a:gridCol>
                <a:gridCol w="1754155">
                  <a:extLst>
                    <a:ext uri="{9D8B030D-6E8A-4147-A177-3AD203B41FA5}">
                      <a16:colId xmlns:a16="http://schemas.microsoft.com/office/drawing/2014/main" val="3089332847"/>
                    </a:ext>
                  </a:extLst>
                </a:gridCol>
                <a:gridCol w="2491273">
                  <a:extLst>
                    <a:ext uri="{9D8B030D-6E8A-4147-A177-3AD203B41FA5}">
                      <a16:colId xmlns:a16="http://schemas.microsoft.com/office/drawing/2014/main" val="4027388481"/>
                    </a:ext>
                  </a:extLst>
                </a:gridCol>
                <a:gridCol w="2593910">
                  <a:extLst>
                    <a:ext uri="{9D8B030D-6E8A-4147-A177-3AD203B41FA5}">
                      <a16:colId xmlns:a16="http://schemas.microsoft.com/office/drawing/2014/main" val="1990159732"/>
                    </a:ext>
                  </a:extLst>
                </a:gridCol>
                <a:gridCol w="3032449">
                  <a:extLst>
                    <a:ext uri="{9D8B030D-6E8A-4147-A177-3AD203B41FA5}">
                      <a16:colId xmlns:a16="http://schemas.microsoft.com/office/drawing/2014/main" val="3827043526"/>
                    </a:ext>
                  </a:extLst>
                </a:gridCol>
              </a:tblGrid>
              <a:tr h="700274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Authors/Year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Primary Focus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Proposed Architecture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Keyfindings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Drawbacks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970747"/>
                  </a:ext>
                </a:extLst>
              </a:tr>
              <a:tr h="1940996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Muthuswamy et al.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Federated IoT Intrusion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Hybrid Transformer + </a:t>
                      </a:r>
                      <a:r>
                        <a:rPr lang="en-US" dirty="0" err="1"/>
                        <a:t>XGBoost</a:t>
                      </a:r>
                      <a:r>
                        <a:rPr lang="en-US" dirty="0"/>
                        <a:t> + Fusion Head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Utilized </a:t>
                      </a:r>
                      <a:r>
                        <a:rPr lang="en-US" dirty="0" err="1"/>
                        <a:t>LoRA</a:t>
                      </a:r>
                      <a:r>
                        <a:rPr lang="en-US" dirty="0"/>
                        <a:t> adapters to reduce FL communication overhead by ~89.5% while managing severe class imbalance.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Challenged by complex, low-frequency web and injection attacks (like SQLi and XSS) because their payloads closely resemble legitimate traffic.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18996"/>
                  </a:ext>
                </a:extLst>
              </a:tr>
              <a:tr h="2494643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Devi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Vision Transformers for Cybersecurity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FAT-</a:t>
                      </a:r>
                      <a:r>
                        <a:rPr lang="en-US" dirty="0" err="1"/>
                        <a:t>ViT</a:t>
                      </a:r>
                      <a:r>
                        <a:rPr lang="en-US" dirty="0"/>
                        <a:t> (Federated Adaptive Training + </a:t>
                      </a:r>
                      <a:r>
                        <a:rPr lang="en-US" dirty="0" err="1"/>
                        <a:t>ViT</a:t>
                      </a:r>
                      <a:r>
                        <a:rPr lang="en-US" dirty="0"/>
                        <a:t>-Lite)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Converted network traffic to 2D visuals to capture spatial relations ; used Contrastive Adversarial Training to improve robustness against evasion.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The process of converting network traffic logs into two-dimensional visual representations introduces mandatory preprocessing overhead before the AI can analyze the data.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567544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21-09-26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008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89E8D-A8F6-DAA5-2D1B-C1F1C2BB6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E2CD-E456-A713-5896-CAF5A69F4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695" y="326571"/>
            <a:ext cx="10515600" cy="615821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58563A15-39B4-CAD0-D532-D7E8AE942E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7857920"/>
              </p:ext>
            </p:extLst>
          </p:nvPr>
        </p:nvGraphicFramePr>
        <p:xfrm>
          <a:off x="287695" y="1073150"/>
          <a:ext cx="1161661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4823">
                  <a:extLst>
                    <a:ext uri="{9D8B030D-6E8A-4147-A177-3AD203B41FA5}">
                      <a16:colId xmlns:a16="http://schemas.microsoft.com/office/drawing/2014/main" val="118478506"/>
                    </a:ext>
                  </a:extLst>
                </a:gridCol>
                <a:gridCol w="1754155">
                  <a:extLst>
                    <a:ext uri="{9D8B030D-6E8A-4147-A177-3AD203B41FA5}">
                      <a16:colId xmlns:a16="http://schemas.microsoft.com/office/drawing/2014/main" val="3089332847"/>
                    </a:ext>
                  </a:extLst>
                </a:gridCol>
                <a:gridCol w="2491273">
                  <a:extLst>
                    <a:ext uri="{9D8B030D-6E8A-4147-A177-3AD203B41FA5}">
                      <a16:colId xmlns:a16="http://schemas.microsoft.com/office/drawing/2014/main" val="4027388481"/>
                    </a:ext>
                  </a:extLst>
                </a:gridCol>
                <a:gridCol w="2593910">
                  <a:extLst>
                    <a:ext uri="{9D8B030D-6E8A-4147-A177-3AD203B41FA5}">
                      <a16:colId xmlns:a16="http://schemas.microsoft.com/office/drawing/2014/main" val="1990159732"/>
                    </a:ext>
                  </a:extLst>
                </a:gridCol>
                <a:gridCol w="3032449">
                  <a:extLst>
                    <a:ext uri="{9D8B030D-6E8A-4147-A177-3AD203B41FA5}">
                      <a16:colId xmlns:a16="http://schemas.microsoft.com/office/drawing/2014/main" val="3827043526"/>
                    </a:ext>
                  </a:extLst>
                </a:gridCol>
              </a:tblGrid>
              <a:tr h="6106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Authors/Year</a:t>
                      </a:r>
                      <a:endParaRPr lang="en-IN" dirty="0"/>
                    </a:p>
                    <a:p>
                      <a:pPr algn="l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Paper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Proposed Architecture</a:t>
                      </a:r>
                      <a:endParaRPr lang="en-IN" dirty="0"/>
                    </a:p>
                    <a:p>
                      <a:pPr algn="l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Key findings</a:t>
                      </a:r>
                      <a:endParaRPr lang="en-IN" dirty="0"/>
                    </a:p>
                    <a:p>
                      <a:pPr algn="l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Drawbacks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611113"/>
                  </a:ext>
                </a:extLst>
              </a:tr>
              <a:tr h="2155476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Vijetha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Self-Adaptive Threat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AISAF (CNN-LSTM-Transformer + Meta-Optimization)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Autonomously detects concept drift without </a:t>
                      </a:r>
                      <a:r>
                        <a:rPr lang="en-US" dirty="0" err="1"/>
                        <a:t>explicitdensity</a:t>
                      </a:r>
                      <a:r>
                        <a:rPr lang="en-US" dirty="0"/>
                        <a:t> estimation and selectively retrains submodules, achieving rapid recovery.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Currently relies on fixed window segmentation, which may underperform in ultra-low-latency streams where drift occurs at sub-millisecond timescales. Explainability remains feature-centric and lacks causal reasoning.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970747"/>
                  </a:ext>
                </a:extLst>
              </a:tr>
              <a:tr h="1896819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Panwar &amp; Abdelrahman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Agentic AI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N/A (Literature &amp; Framework Review)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Outlined the shift to autonomous Agentic AI, highlighting the need for self-learning security models and human-AI collaboration.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Highlights inherent risks in autonomous systems, including AI bias from training data, susceptibility to adversarial manipulation, and the dangers of completely removing human oversight.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1899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2E83F-0171-E488-3D1F-CAFDB10D0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21-09-26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5AA6D-9CA5-C06F-C2C9-AFA059ADF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EDDEC-2475-B7C8-88E2-4169439E4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954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5C46B-0CB7-C8D8-1DBE-9B0A8154E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21-09-26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A000D-3AB4-2CDB-1896-D79134A5B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JSSATEB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3AB6C-BFE9-8A1A-EAD3-A113B5846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8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EDE334-9031-6EF7-1C16-F39AEC52D4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90" y="136525"/>
            <a:ext cx="11140440" cy="628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616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C59FA-6931-0548-482C-65FBD10FE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21-09-26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CECF7-BFB1-C3E7-1955-75EC03F30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97806-29B8-B85F-1339-50C626DD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9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FEC9FF-7957-1303-4965-520E20226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" y="708660"/>
            <a:ext cx="11715750" cy="5417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144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4F273-C64E-7A2B-1B1E-FCA09E2B3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136526"/>
            <a:ext cx="10515600" cy="777874"/>
          </a:xfrm>
        </p:spPr>
        <p:txBody>
          <a:bodyPr>
            <a:normAutofit/>
          </a:bodyPr>
          <a:lstStyle/>
          <a:p>
            <a:r>
              <a:rPr lang="en-I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— As Built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A68BB1C-A60C-C78C-9AE3-1C52AA9FFE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246" y="1052830"/>
            <a:ext cx="9307830" cy="530352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848BC-AD49-6EA9-F0ED-D4C729D4E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21-09-26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3D90E-BC44-992A-2066-CE1A24A4D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D0454-4900-B3B8-6274-675EA580B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667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B1E84-B873-5DF8-B9D8-49D6980C0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E7247-655E-203B-BEB2-E3D38B7DD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2058"/>
            <a:ext cx="10515600" cy="1325563"/>
          </a:xfrm>
        </p:spPr>
        <p:txBody>
          <a:bodyPr>
            <a:normAutofit/>
          </a:bodyPr>
          <a:lstStyle/>
          <a:p>
            <a:r>
              <a:rPr lang="en-I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— As Built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47D92-9AFA-F6BF-EB8A-31FB8D89C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716" y="1825625"/>
            <a:ext cx="6492464" cy="62139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sz="4000" b="1" dirty="0"/>
              <a:t>Techniques, Tools &amp; Technologies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33082-9566-8329-D3C9-33F4350B5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21-09-26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C81D5-B169-A419-31FE-DFBF7C7A9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10BE1-0E8C-2584-A810-65B1CD915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11</a:t>
            </a:fld>
            <a:endParaRPr lang="en-IN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C734193-EE04-D0B1-263C-59406AF2A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716" y="2447022"/>
            <a:ext cx="10866567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Edge Compute (Worker Nodes):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Python,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PyTorch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Tabular Transformer (d_model=32, 4 heads, 2 layers) + HuggingFace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peft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(LoRA r=4, α=8) — runs as a systemd service on each edge node.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Cloud Orchestration (The Brain):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AWS SAM — API Gateway, 6 Lambda functions (ingest / model / incident / rounds / incidents-read / straggler-aggregate), DynamoDB (round + incident state), S3 (adapter + global model storage), EventBridge (straggler timeout).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Access, Data &amp; Explainability: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SSM Session Manager only, no SSH — UNSW-NB15 + ToN_IoT (Dirichlet non-IID split, 4 devices), attention-rollout explainability, React + Recharts dashboard.</a:t>
            </a:r>
          </a:p>
        </p:txBody>
      </p:sp>
    </p:spTree>
    <p:extLst>
      <p:ext uri="{BB962C8B-B14F-4D97-AF65-F5344CB8AC3E}">
        <p14:creationId xmlns:p14="http://schemas.microsoft.com/office/powerpoint/2010/main" val="2466583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ue ribbon with white text&#10;&#10;Description automatically generated">
            <a:extLst>
              <a:ext uri="{FF2B5EF4-FFF2-40B4-BE49-F238E27FC236}">
                <a16:creationId xmlns:a16="http://schemas.microsoft.com/office/drawing/2014/main" id="{EB3272C8-4FE1-EE98-BE03-C4EC99D332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946" y="361459"/>
            <a:ext cx="8180107" cy="6135081"/>
          </a:xfr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232DC7-04A5-A438-ACA9-1E76149CB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21-09-26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18A635-EE11-DF6C-1067-A203AEDC0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D2651-9F94-E575-2DAD-B90883A7F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62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6571"/>
            <a:ext cx="10515600" cy="615821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Results — Detection Performance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474F023-BD49-652C-2510-4D4838E622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5791504"/>
              </p:ext>
            </p:extLst>
          </p:nvPr>
        </p:nvGraphicFramePr>
        <p:xfrm>
          <a:off x="287695" y="1102841"/>
          <a:ext cx="11616610" cy="5135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0000"/>
                <a:gridCol w="3700000"/>
                <a:gridCol w="3716610"/>
              </a:tblGrid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Metric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UNSW-NB15 (82,332 rows)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ToN_IoT (31,656 rows)</a:t>
                      </a:r>
                      <a:endParaRPr lang="en-IN" sz="1800" dirty="0"/>
                    </a:p>
                  </a:txBody>
                  <a:tcPr/>
                </a:tc>
              </a:tr>
              <a:tr h="620000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Accuracy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87.19%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98.84%</a:t>
                      </a:r>
                      <a:endParaRPr lang="en-IN" sz="1800" dirty="0"/>
                    </a:p>
                  </a:txBody>
                  <a:tcPr/>
                </a:tc>
              </a:tr>
              <a:tr h="620000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Macro F1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0.8706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0.9840</a:t>
                      </a:r>
                      <a:endParaRPr lang="en-IN" sz="1800" dirty="0"/>
                    </a:p>
                  </a:txBody>
                  <a:tcPr/>
                </a:tc>
              </a:tr>
              <a:tr h="620000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False Positive Rate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14.31%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1.93%</a:t>
                      </a:r>
                      <a:endParaRPr lang="en-IN" sz="1800" dirty="0"/>
                    </a:p>
                  </a:txBody>
                  <a:tcPr/>
                </a:tc>
              </a:tr>
              <a:tr h="620000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Fuzzers Recall (official test, 6,062 rows)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41.06%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—</a:t>
                      </a:r>
                      <a:endParaRPr lang="en-IN" sz="1800" dirty="0"/>
                    </a:p>
                  </a:txBody>
                  <a:tcPr/>
                </a:tc>
              </a:tr>
              <a:tr h="620000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Inference Latency (median / p95)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2.88 ms / 6.65 ms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same model</a:t>
                      </a:r>
                      <a:endParaRPr lang="en-IN" sz="1800" dirty="0"/>
                    </a:p>
                  </a:txBody>
                  <a:tcPr/>
                </a:tc>
              </a:tr>
              <a:tr h="620000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Adapter Payload Size (per round)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14.56 KB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same model</a:t>
                      </a:r>
                      <a:endParaRPr lang="en-IN" sz="1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21-09-26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008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89E8D-A8F6-DAA5-2D1B-C1F1C2BB6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E2CD-E456-A713-5896-CAF5A69F4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695" y="326571"/>
            <a:ext cx="10515600" cy="615821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Results — Federated Zero-Day Recovery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58563A15-39B4-CAD0-D532-D7E8AE942E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7857920"/>
              </p:ext>
            </p:extLst>
          </p:nvPr>
        </p:nvGraphicFramePr>
        <p:xfrm>
          <a:off x="287695" y="1073150"/>
          <a:ext cx="1161661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4823"/>
                <a:gridCol w="1754155"/>
                <a:gridCol w="2491273"/>
                <a:gridCol w="2593910"/>
                <a:gridCol w="3032449"/>
              </a:tblGrid>
              <a:tr h="700000"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/>
                        <a:t>Round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/>
                        <a:t>Cumulative Fuzzers Exposure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/>
                        <a:t>Official-Test Recall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/>
                        <a:t>Replay-Set Accuracy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/>
                        <a:t>General Accuracy (FPR)</a:t>
                      </a:r>
                      <a:endParaRPr lang="en-IN" sz="1700" dirty="0"/>
                    </a:p>
                  </a:txBody>
                  <a:tcPr/>
                </a:tc>
              </a:tr>
              <a:tr h="900000">
                <a:tc>
                  <a:txBody>
                    <a:bodyPr/>
                    <a:lstStyle/>
                    <a:p>
                      <a:pPr algn="l"/>
                      <a:r>
                        <a:rPr lang="en-US" sz="1700" dirty="0"/>
                        <a:t>0 (before)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dirty="0"/>
                        <a:t>0%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dirty="0"/>
                        <a:t>41.06%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dirty="0"/>
                        <a:t>28.14%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dirty="0"/>
                        <a:t>87.19% (14.31%)</a:t>
                      </a:r>
                      <a:endParaRPr lang="en-IN" sz="1700" dirty="0"/>
                    </a:p>
                  </a:txBody>
                  <a:tcPr/>
                </a:tc>
              </a:tr>
              <a:tr h="1200000">
                <a:tc>
                  <a:txBody>
                    <a:bodyPr/>
                    <a:lstStyle/>
                    <a:p>
                      <a:pPr algn="l"/>
                      <a:r>
                        <a:rPr lang="en-US" sz="1700" dirty="0"/>
                        <a:t>4 (after, mean ± std, 4 seeds)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dirty="0"/>
                        <a:t>100%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dirty="0"/>
                        <a:t>49.13% ± 2.49pt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dirty="0"/>
                        <a:t>36.97% ± 3.07pt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dirty="0"/>
                        <a:t>86.55% ± 0.12pt (17.71% ± 0.71pt)</a:t>
                      </a:r>
                      <a:endParaRPr lang="en-IN" sz="1700" dirty="0"/>
                    </a:p>
                  </a:txBody>
                  <a:tcPr/>
                </a:tc>
              </a:tr>
              <a:tr h="900000"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/>
                        <a:t>Net change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dirty="0"/>
                        <a:t>—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/>
                        <a:t>+8.07pt ± 2.49pt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/>
                        <a:t>+8.83pt ± 3.07pt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dirty="0"/>
                        <a:t>−1.3pt acc / +3.4pt FPR</a:t>
                      </a:r>
                      <a:endParaRPr lang="en-IN" sz="17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2E83F-0171-E488-3D1F-CAFDB10D0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21-09-26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5AA6D-9CA5-C06F-C2C9-AFA059ADF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EDDEC-2475-B7C8-88E2-4169439E4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954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7814"/>
            <a:ext cx="10515600" cy="766445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Deployment &amp; Demo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38200" y="937260"/>
            <a:ext cx="10515600" cy="523970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A real, deployed system — not a simulation</a:t>
            </a:r>
          </a:p>
          <a:p>
            <a:r>
              <a:rPr lang="en-US" sz="2200" b="1" dirty="0"/>
              <a:t>Cloud stack:</a:t>
            </a:r>
            <a:r>
              <a:rPr lang="en-US" sz="2200" dirty="0"/>
              <a:t> AWS SAM stack “fedgrid” (ap-south-1) — API Gateway, 6 Lambda functions, DynamoDB (round + incident state), S3 (adapter + global model), EventBridge straggler timeout.</a:t>
            </a:r>
          </a:p>
          <a:p>
            <a:r>
              <a:rPr lang="en-US" sz="2200" b="1" dirty="0"/>
              <a:t>Edge nodes:</a:t>
            </a:r>
            <a:r>
              <a:rPr lang="en-US" sz="2200" dirty="0"/>
              <a:t> 4 EC2 instances, SSM Session Manager only (no SSH, no inbound rules) — each runs the agent as a systemd service against the live API.</a:t>
            </a:r>
          </a:p>
          <a:p>
            <a:r>
              <a:rPr lang="en-US" sz="2200" b="1" dirty="0"/>
              <a:t>Dashboard:</a:t>
            </a:r>
            <a:r>
              <a:rPr lang="en-US" sz="2200" dirty="0"/>
              <a:t> React + Recharts, polls /rounds and /incidents — round-by-round federated validation accuracy, live incident feed (BLOCK / ALERT / RETRAIN / MISS), attention-rollout explainability per detection.</a:t>
            </a:r>
          </a:p>
          <a:p>
            <a:r>
              <a:rPr lang="en-US" sz="2200" b="1" dirty="0"/>
              <a:t>Demo script:</a:t>
            </a:r>
            <a:r>
              <a:rPr lang="en-US" sz="2200" dirty="0"/>
              <a:t> replay a held-out attack class the global model has never trained on → logged as MISS → the one device holding that class locally retrains → FedAvg round completes → new global adapter redistributed → the same replay is now BLOCKed on devices that never saw the raw attack traffic.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21-09-26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171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7814"/>
            <a:ext cx="10515600" cy="766445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Challenges &amp; Fixes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38200" y="937260"/>
            <a:ext cx="10515600" cy="523970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Real bugs, found and fixed — disclosed, not hidden</a:t>
            </a:r>
          </a:p>
          <a:p>
            <a:r>
              <a:rPr lang="en-US" sz="2200" b="1" dirty="0"/>
              <a:t>LoRA base weights never trained:</a:t>
            </a:r>
            <a:r>
              <a:rPr lang="en-US" sz="2200" dirty="0"/>
              <a:t> found via direct inspection (requires_grad=False from construction) — the "adapter" was correcting a permanently-random matrix since day one. Fixed by training the FFN base jointly, then merging LoRA into it before freezing; backbone retrained, every number re-measured.</a:t>
            </a:r>
          </a:p>
          <a:p>
            <a:r>
              <a:rPr lang="en-US" sz="2200" b="1" dirty="0"/>
              <a:t>Local-retraining dilution &amp; catastrophic forgetting:</a:t>
            </a:r>
            <a:r>
              <a:rPr lang="en-US" sz="2200" dirty="0"/>
              <a:t> a first fix over-corrected — general false-positive rate exploded 12%→65% chasing the headline recall number. Caught by deliberately checking general performance, not assumed safe; fixed with bounded hard-example-weighted sampling.</a:t>
            </a:r>
          </a:p>
          <a:p>
            <a:r>
              <a:rPr lang="en-US" sz="2200" b="1" dirty="0"/>
              <a:t>Demo-day incident (Sept 21):</a:t>
            </a:r>
            <a:r>
              <a:rPr lang="en-US" sz="2200" dirty="0"/>
              <a:t> all 4 EC2 nodes were silently terminated by the deploy identity — re-provisioned. CORS was misconfigured (a first fix missed the browser’s real preflight OPTIONS request). A DynamoDB scan-before-sort bug was serving week-old stale incidents.</a:t>
            </a:r>
          </a:p>
          <a:p>
            <a:r>
              <a:rPr lang="en-US" sz="2200" b="1" dirty="0"/>
              <a:t>Straggler quorum lowered 2→1:</a:t>
            </a:r>
            <a:r>
              <a:rPr lang="en-US" sz="2200" dirty="0"/>
              <a:t> discovered devices 2–4 have no organic reason to ever retrain — their own-buffer accuracy (96–99%) sits far above any reasonable self-eval trigger, so requiring 2 participants meant a round could never complete.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21-09-26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171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A861A-55E7-3AAF-909C-01988AFD8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Limitations &amp; Future Work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546F6-C0C6-FA57-68B5-CF6A24C58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9592"/>
            <a:ext cx="10515600" cy="4777371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en-US" sz="2000" b="1" dirty="0"/>
              <a:t>Single shared adapter, heterogeneous devices:</a:t>
            </a:r>
            <a:r>
              <a:rPr lang="en-US" sz="2000" dirty="0"/>
              <a:t> one device retraining on UNSW-flavored data degrades ToN_IoT calibration disproportionately (FPR moved ~9x on ToN_IoT vs ~2x on UNSW in one measured run) — future work: per-source-domain adapter conditioning.</a:t>
            </a:r>
          </a:p>
          <a:p>
            <a:pPr lvl="1"/>
            <a:r>
              <a:rPr lang="en-US" sz="2000" b="1" dirty="0"/>
              <a:t>peft migration halved the zero-day recovery gain:</a:t>
            </a:r>
            <a:r>
              <a:rPr lang="en-US" sz="2000" dirty="0"/>
              <a:t> +8.07pt vs +20.05pt (official-test recall) after switching hand-rolled LoRA → HuggingFace peft; most likely cause is train_backbone.py never seeding torch itself — needs a controlled re-run to confirm.</a:t>
            </a:r>
          </a:p>
          <a:p>
            <a:pPr lvl="1"/>
            <a:r>
              <a:rPr lang="en-US" sz="2000" b="1" dirty="0"/>
              <a:t>Inference latency grew ~4x post-migration:</a:t>
            </a:r>
            <a:r>
              <a:rPr lang="en-US" sz="2000" dirty="0"/>
              <a:t> 2.88ms median vs 0.72ms (still comfortably under the 50ms target) — a real library-overhead cost of peft’s wrapper indirection, disclosed rather than hidden.</a:t>
            </a:r>
          </a:p>
          <a:p>
            <a:pPr lvl="1"/>
            <a:r>
              <a:rPr lang="en-US" sz="2000" b="1" dirty="0"/>
              <a:t>Incident store is a stopgap:</a:t>
            </a:r>
            <a:r>
              <a:rPr lang="en-US" sz="2000" dirty="0"/>
              <a:t> DynamoDB Scan-then-sort with a 100,000-item runaway-growth cap — a real deployment needs a GSI on timestamp instead of scanning the whole table.</a:t>
            </a:r>
          </a:p>
          <a:p>
            <a:pPr lvl="1"/>
            <a:r>
              <a:rPr lang="en-US" sz="2000" b="1" dirty="0"/>
              <a:t>Scope narrowed from the original synopsis:</a:t>
            </a:r>
            <a:r>
              <a:rPr lang="en-US" sz="2000" dirty="0"/>
              <a:t> mitmproxy and the CICIDS17/18, BoT-IoT, CICIoT2023 datasets were dropped in favor of UNSW-NB15 + ToN_IoT only — noted here rather than left as a silent mismatch.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83A70-9C9E-261D-1060-95B3FFE83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21-09-26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C1CDB-73AE-B30C-082E-9874BFDD9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11D1E-876F-1B97-E309-1FBADEF3D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9614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8CAD5-8C99-738A-5D5B-9C4B28324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092200"/>
          </a:xfrm>
        </p:spPr>
        <p:txBody>
          <a:bodyPr>
            <a:normAutofit/>
          </a:bodyPr>
          <a:lstStyle/>
          <a:p>
            <a:r>
              <a:rPr lang="en-IN" sz="4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800DD-62DA-F0B2-29FA-20896C1C3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8725"/>
            <a:ext cx="10515600" cy="4963983"/>
          </a:xfrm>
        </p:spPr>
        <p:txBody>
          <a:bodyPr>
            <a:normAutofit/>
          </a:bodyPr>
          <a:lstStyle/>
          <a:p>
            <a:r>
              <a:rPr lang="en-US" b="1" dirty="0"/>
              <a:t>Agentic </a:t>
            </a:r>
            <a:r>
              <a:rPr lang="en-US" b="1" dirty="0" err="1"/>
              <a:t>FedGrid</a:t>
            </a:r>
            <a:r>
              <a:rPr lang="en-US" dirty="0"/>
              <a:t> is built and deployed end-to-end on real infrastructure — four autonomous EC2 edge agents, a serverless AWS backend running genuine synchronous FedAvg rounds, and an explainable React dashboard — not a simulation. Across four seeds, federated learning recovers zero-day detection ability for a completely held-out attack class without a single raw packet ever leaving the edge, and every number in this deck, including the regressions and open limitations, was measured against genuinely held-out data, not asserted. What remains before final submission is scoped explicitly in Future Work, not hidden.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1DD81-5A72-D8B9-59E7-78C0BBE6F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21-09-26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75801-8C06-DD85-42C8-1BE3BBBE8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F332D-771D-D220-88B6-778FEB095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163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745</Words>
  <Application>Microsoft Office PowerPoint</Application>
  <PresentationFormat>Widescreen</PresentationFormat>
  <Paragraphs>102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Wingdings</vt:lpstr>
      <vt:lpstr>Office Theme</vt:lpstr>
      <vt:lpstr>Agentic FedGrid: Autonomous Privacy-Preserving Threat Detection</vt:lpstr>
      <vt:lpstr>Overview </vt:lpstr>
      <vt:lpstr>Introduction</vt:lpstr>
      <vt:lpstr>Project Overview</vt:lpstr>
      <vt:lpstr>Objective</vt:lpstr>
      <vt:lpstr>Literature Survey</vt:lpstr>
      <vt:lpstr>Literature Survey</vt:lpstr>
      <vt:lpstr>PowerPoint Presentation</vt:lpstr>
      <vt:lpstr>PowerPoint Presentation</vt:lpstr>
      <vt:lpstr>Methodology</vt:lpstr>
      <vt:lpstr>Methodology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 – 21CS52</dc:title>
  <dc:creator>HH4499</dc:creator>
  <cp:lastModifiedBy>MOHITH KUMAR M</cp:lastModifiedBy>
  <cp:revision>12</cp:revision>
  <dcterms:created xsi:type="dcterms:W3CDTF">2023-12-05T10:45:40Z</dcterms:created>
  <dcterms:modified xsi:type="dcterms:W3CDTF">2026-05-04T04:25:53Z</dcterms:modified>
</cp:coreProperties>
</file>