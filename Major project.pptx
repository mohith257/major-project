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8" r:id="rId9"/>
    <p:sldId id="260" r:id="rId10"/>
    <p:sldId id="261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758D1-797C-4ADE-918B-C0D3313BE2BC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3B20B-7219-48EB-B29B-D5DFA5269D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7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A347-A7CA-625B-BE06-44AB39368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067D7-C640-4E18-0E7E-34C967F78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48E7-4012-DA3F-602B-B0C22428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C56A4-3D38-A16A-6F81-FDB4867D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EFFC3-5C0C-DA08-4AF8-0DA73E5A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4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1FB9-4D31-C363-7C81-145B006C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1DC94-C1F5-3D53-AEA9-0CC4CB5D3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66678-6BA7-7B2B-EFB9-278E31CA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EAEA-2C28-1B18-BF35-99D18431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BDA94-C731-968F-353B-CF441F66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50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8593-906C-9B59-5EAB-024A4C2A9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4035E-2532-CA31-88D2-AD1A08F6A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78FA4-A127-FD6F-4C23-B665E444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1ECC9-40A1-93EB-8520-95DDDA02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0B989-8AD9-690A-D05E-D8EDFEBB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6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73E6-1012-840B-2BC6-883881A3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4572-DE79-B923-64B6-55D7B697B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4DE84-58BD-4DB4-94DF-7A27A7739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5B449-9C6A-E7CA-D189-A6129B7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87AC8-91D0-9C0F-5BBF-493533F3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1333D-A6A7-0172-97E1-C1D27A9B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32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5E00-0D5B-8E36-E9BC-3E0BE216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B6560-4EE2-1EB1-9BEF-1332CC4EF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29E74-FD1A-D041-3F07-F10D84971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7991E-AA84-D42B-2438-2E2BBD75C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150CA-5C7C-D1C7-4679-5285854D4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3FACD-C943-5D29-C69F-C7CBDEA1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CB0C1-8E1A-0440-E735-E520D203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2EBB4-6788-C844-D12D-94A9A37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2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39BC-A239-7489-A2F8-5FAE5D65B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F88F-618C-6BAF-5F4E-68BAF50B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3F640-8284-6246-9BCF-EE30EBA4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BFCF7-E678-6037-AC4E-F97A57AA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4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C66F6-4B0D-D022-82F7-8FEEABC8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29D8D-61F2-055D-D031-1ED506E8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E9AB2-34F5-54A5-D1A1-3E59260D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77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F94E-5A2F-56F3-7C3E-5A8E59E2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6BEC-65BA-A5C4-FAC5-47FC8262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C1EC9-2822-BD88-0879-B718ED5D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23EAE-9225-E605-10DB-C51E22B9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F8CC3-0A42-56C2-15A4-47D77377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8ECF2-4344-0B51-B14C-E2AB3BE0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5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E2F-8346-E3D8-A901-8F80F016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135A7-B386-6636-B2E4-4C79F91FB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F48BE-896B-DF19-FF28-4E1D5DD18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9322F-4B6D-53C4-632B-C523871C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5A5A7-4AA4-D87B-D2CD-6B7E6AF6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860F-2CAD-DB3C-8FAB-10E8F97C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5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808A-02A3-6574-F5F2-F8E42B6D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FD66F-85A1-C031-D9F7-63F6213C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7377B-7605-74A8-876C-6E9DAA3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A403-FD97-70D8-A69B-4059F335F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B3C6-3B31-1612-704B-F8FB50CB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D2C44-2154-5E02-DE80-9BC532A29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03968-FD5B-BEC2-8E2A-58EBC6544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C213-CF14-ACCE-D0F9-6E240361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3B824-907A-91FC-EF4B-250964B8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84366-7217-2F3F-9806-1B8DC52D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0D533-6D20-D34A-DDCD-4DF08196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E3CCC-AA15-1CB8-BDDF-875498E1F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8BBC4-008F-D950-4EDB-41F4B45A8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09AA-C4F8-23E6-3C82-C3A5DD969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31864-B863-2DCF-BC94-D20D68515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1CE1F-198B-4538-8015-D27AAC91B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0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4641-E2BD-9480-16F0-86E73AA1F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8426"/>
            <a:ext cx="9144000" cy="1380608"/>
          </a:xfrm>
        </p:spPr>
        <p:txBody>
          <a:bodyPr>
            <a:noAutofit/>
          </a:bodyPr>
          <a:lstStyle/>
          <a:p>
            <a:r>
              <a:rPr lang="en-US" sz="4000" dirty="0"/>
              <a:t>Agentic </a:t>
            </a:r>
            <a:r>
              <a:rPr lang="en-US" sz="4000" dirty="0" err="1"/>
              <a:t>FedGrid</a:t>
            </a:r>
            <a:r>
              <a:rPr lang="en-US" sz="4000" dirty="0"/>
              <a:t>: Autonomous Privacy-Preserving Threat Detection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C4282-E52D-A27F-E8C0-89D5E0989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017" y="4329034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Mohith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M-1JS23IS090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Anusha B-1JS23IS016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Kumar Yadav-1JS22IS065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Rohan C Ravi-1JS24IS410</a:t>
            </a:r>
          </a:p>
        </p:txBody>
      </p:sp>
      <p:pic>
        <p:nvPicPr>
          <p:cNvPr id="7" name="Picture 6" descr="A logo with a white circle and red text&#10;&#10;Description automatically generated">
            <a:extLst>
              <a:ext uri="{FF2B5EF4-FFF2-40B4-BE49-F238E27FC236}">
                <a16:creationId xmlns:a16="http://schemas.microsoft.com/office/drawing/2014/main" id="{1BA38A2A-E555-FB49-32C2-91C70DA99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292" y="352743"/>
            <a:ext cx="3219450" cy="1219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2DD053E-2223-201B-9FA3-8D3FCFEA8519}"/>
              </a:ext>
            </a:extLst>
          </p:cNvPr>
          <p:cNvSpPr txBox="1">
            <a:spLocks/>
          </p:cNvSpPr>
          <p:nvPr/>
        </p:nvSpPr>
        <p:spPr>
          <a:xfrm>
            <a:off x="1456167" y="1517109"/>
            <a:ext cx="9597390" cy="10118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Engineering </a:t>
            </a:r>
          </a:p>
          <a:p>
            <a:r>
              <a:rPr lang="en-IN" sz="3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 2025-26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8F450F-C6B8-6C2E-12A2-DC209A18A41B}"/>
              </a:ext>
            </a:extLst>
          </p:cNvPr>
          <p:cNvSpPr txBox="1">
            <a:spLocks/>
          </p:cNvSpPr>
          <p:nvPr/>
        </p:nvSpPr>
        <p:spPr>
          <a:xfrm>
            <a:off x="2182527" y="2425359"/>
            <a:ext cx="7976235" cy="5977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3590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CAD5-8C99-738A-5D5B-9C4B283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22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00DD-62DA-F0B2-29FA-20896C1C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6"/>
            <a:ext cx="10515600" cy="40747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(Abstract)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and Deliverables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FA2E-4528-98F1-9C97-DE1782FD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C52F-8B80-0C9B-BE78-4EE0C06F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C4B4B-6A57-6538-9F2D-8046934A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CAD5-8C99-738A-5D5B-9C4B283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92200"/>
          </a:xfrm>
        </p:spPr>
        <p:txBody>
          <a:bodyPr>
            <a:normAutofit/>
          </a:bodyPr>
          <a:lstStyle/>
          <a:p>
            <a:r>
              <a:rPr lang="en-IN" sz="4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00DD-62DA-F0B2-29FA-20896C1C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63983"/>
          </a:xfrm>
        </p:spPr>
        <p:txBody>
          <a:bodyPr>
            <a:normAutofit/>
          </a:bodyPr>
          <a:lstStyle/>
          <a:p>
            <a:r>
              <a:rPr lang="en-US" dirty="0"/>
              <a:t>Traditional centralized intrusion detection compromises privacy and incurs high cloud costs. We introduce </a:t>
            </a:r>
            <a:r>
              <a:rPr lang="en-US" b="1" dirty="0"/>
              <a:t>Agentic </a:t>
            </a:r>
            <a:r>
              <a:rPr lang="en-US" b="1" dirty="0" err="1"/>
              <a:t>FedGrid</a:t>
            </a:r>
            <a:r>
              <a:rPr lang="en-US" dirty="0"/>
              <a:t>, a decentralized framework deploying autonomous edge agents. Using Tabular Transformers, agents detect threats locally and share only mathematical updates via Federated Averaging on a serverless AWS orchestrator, guaranteeing data privacy and scalable, zero-cost cyber defense.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DD81-5A72-D8B9-59E7-78C0BBE6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5801-8C06-DD85-42C8-1BE3BBBE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F332D-771D-D220-88B6-778FEB09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16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861A-55E7-3AAF-909C-01988AF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46F6-C0C6-FA57-68B5-CF6A24C5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Problem Statement (The Need)</a:t>
            </a:r>
            <a:endParaRPr lang="en-US" dirty="0"/>
          </a:p>
          <a:p>
            <a:pPr lvl="1"/>
            <a:r>
              <a:rPr lang="en-US" sz="3400" b="1" dirty="0"/>
              <a:t>The Privacy Bottleneck:</a:t>
            </a:r>
            <a:r>
              <a:rPr lang="en-US" sz="3400" dirty="0"/>
              <a:t> Organizations cannot legally or safely share sensitive network traffic logs to train centralized AI models.</a:t>
            </a:r>
          </a:p>
          <a:p>
            <a:pPr lvl="1"/>
            <a:r>
              <a:rPr lang="en-US" sz="3400" b="1" dirty="0"/>
              <a:t>Failing Defenses:</a:t>
            </a:r>
            <a:r>
              <a:rPr lang="en-US" sz="3400" dirty="0"/>
              <a:t> Traditional rule-based firewalls and static Intrusion Detection Systems (IDS) are ineffective against complex zero-day attacks and Advanced Persistent Threats (APTs).</a:t>
            </a:r>
          </a:p>
          <a:p>
            <a:pPr lvl="1"/>
            <a:r>
              <a:rPr lang="en-US" sz="3400" b="1" dirty="0"/>
              <a:t>Cost &amp; Latency:</a:t>
            </a:r>
            <a:r>
              <a:rPr lang="en-US" sz="3400" dirty="0"/>
              <a:t> Uploading massive amounts of raw edge-device data to the cloud for security analysis is too slow and heavily inflates cloud computing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83A70-9C9E-261D-1060-95B3FFE8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1CDB-73AE-B30C-082E-9874BFDD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11D1E-876F-1B97-E309-1FBADEF3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6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814"/>
            <a:ext cx="10515600" cy="766445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937260"/>
            <a:ext cx="10515600" cy="52397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Major Objective of the project</a:t>
            </a:r>
          </a:p>
          <a:p>
            <a:r>
              <a:rPr lang="en-US" sz="2400" dirty="0"/>
              <a:t>To engineer a decentralized, privacy-preserving Intrusion Detection System (IDS) that detects and neutralizes zero-day threats at the edge without ever exposing raw network logs to the cloud.</a:t>
            </a:r>
          </a:p>
          <a:p>
            <a:pPr marL="0" indent="0">
              <a:buNone/>
            </a:pPr>
            <a:r>
              <a:rPr lang="en-US" sz="2400" b="1" dirty="0"/>
              <a:t>Important Goals</a:t>
            </a:r>
            <a:endParaRPr lang="en-US" sz="2400" dirty="0"/>
          </a:p>
          <a:p>
            <a:r>
              <a:rPr lang="en-US" sz="2400" b="1" dirty="0"/>
              <a:t>Autonomous Edge Defense:</a:t>
            </a:r>
            <a:r>
              <a:rPr lang="en-US" sz="2400" dirty="0"/>
              <a:t> Deploy Agentic AI nodes capable of locally monitoring traffic and blocking malicious payloads in real-time without cloud authorization.</a:t>
            </a:r>
          </a:p>
          <a:p>
            <a:r>
              <a:rPr lang="en-US" sz="2400" b="1" dirty="0"/>
              <a:t>Privacy-Preserving Collaboration:</a:t>
            </a:r>
            <a:r>
              <a:rPr lang="en-US" sz="2400" dirty="0"/>
              <a:t> Implement Federated Learning (</a:t>
            </a:r>
            <a:r>
              <a:rPr lang="en-US" sz="2400" dirty="0" err="1"/>
              <a:t>FedAvg</a:t>
            </a:r>
            <a:r>
              <a:rPr lang="en-US" sz="2400" dirty="0"/>
              <a:t>) so nodes share </a:t>
            </a:r>
            <a:r>
              <a:rPr lang="en-US" sz="2400" i="1" dirty="0"/>
              <a:t>only</a:t>
            </a:r>
            <a:r>
              <a:rPr lang="en-US" sz="2400" dirty="0"/>
              <a:t> mathematical intelligence, keeping all user data strictly on-device.</a:t>
            </a:r>
          </a:p>
          <a:p>
            <a:r>
              <a:rPr lang="en-US" sz="2400" b="1" dirty="0"/>
              <a:t>Zero-Cost Orchestration:</a:t>
            </a:r>
            <a:r>
              <a:rPr lang="en-US" sz="2400" dirty="0"/>
              <a:t> Architect a highly scalable, serverless cloud backend to securely aggregate AI weights at zero compute cost.</a:t>
            </a:r>
          </a:p>
          <a:p>
            <a:r>
              <a:rPr lang="en-US" sz="2400" b="1" dirty="0"/>
              <a:t>Advanced Pattern Recognition:</a:t>
            </a:r>
            <a:r>
              <a:rPr lang="en-US" sz="2400" dirty="0"/>
              <a:t> Utilize Tabular Transformers to detect the hidden, sequential patterns of complex attacks like Advanced Persistent Threats (APTs</a:t>
            </a:r>
            <a:r>
              <a:rPr lang="en-US" sz="1600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17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474F023-BD49-652C-2510-4D4838E62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91504"/>
              </p:ext>
            </p:extLst>
          </p:nvPr>
        </p:nvGraphicFramePr>
        <p:xfrm>
          <a:off x="287695" y="1102841"/>
          <a:ext cx="11616610" cy="5135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823">
                  <a:extLst>
                    <a:ext uri="{9D8B030D-6E8A-4147-A177-3AD203B41FA5}">
                      <a16:colId xmlns:a16="http://schemas.microsoft.com/office/drawing/2014/main" val="118478506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3089332847"/>
                    </a:ext>
                  </a:extLst>
                </a:gridCol>
                <a:gridCol w="2491273">
                  <a:extLst>
                    <a:ext uri="{9D8B030D-6E8A-4147-A177-3AD203B41FA5}">
                      <a16:colId xmlns:a16="http://schemas.microsoft.com/office/drawing/2014/main" val="4027388481"/>
                    </a:ext>
                  </a:extLst>
                </a:gridCol>
                <a:gridCol w="2593910">
                  <a:extLst>
                    <a:ext uri="{9D8B030D-6E8A-4147-A177-3AD203B41FA5}">
                      <a16:colId xmlns:a16="http://schemas.microsoft.com/office/drawing/2014/main" val="1990159732"/>
                    </a:ext>
                  </a:extLst>
                </a:gridCol>
                <a:gridCol w="3032449">
                  <a:extLst>
                    <a:ext uri="{9D8B030D-6E8A-4147-A177-3AD203B41FA5}">
                      <a16:colId xmlns:a16="http://schemas.microsoft.com/office/drawing/2014/main" val="3827043526"/>
                    </a:ext>
                  </a:extLst>
                </a:gridCol>
              </a:tblGrid>
              <a:tr h="70027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Authors/Year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Primary Focus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Proposed Architecture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Keyfindings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Drawbacks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70747"/>
                  </a:ext>
                </a:extLst>
              </a:tr>
              <a:tr h="194099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Muthuswamy et al.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Federated IoT Intrusion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Hybrid Transformer + </a:t>
                      </a: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 + Fusion Head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Utilized </a:t>
                      </a:r>
                      <a:r>
                        <a:rPr lang="en-US" dirty="0" err="1"/>
                        <a:t>LoRA</a:t>
                      </a:r>
                      <a:r>
                        <a:rPr lang="en-US" dirty="0"/>
                        <a:t> adapters to reduce FL communication overhead by ~89.5% while managing severe class imbalance.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Challenged by complex, low-frequency web and injection attacks (like SQLi and XSS) because their payloads closely resemble legitimate traffic.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18996"/>
                  </a:ext>
                </a:extLst>
              </a:tr>
              <a:tr h="249464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Devi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Vision Transformers for 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FAT-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 (Federated Adaptive Training + </a:t>
                      </a:r>
                      <a:r>
                        <a:rPr lang="en-US" dirty="0" err="1"/>
                        <a:t>ViT</a:t>
                      </a:r>
                      <a:r>
                        <a:rPr lang="en-US" dirty="0"/>
                        <a:t>-Lite)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Converted network traffic to 2D visuals to capture spatial relations ; used Contrastive Adversarial Training to improve robustness against evasion.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The process of converting network traffic logs into two-dimensional visual representations introduces mandatory preprocessing overhead before the AI can analyze the data.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6754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00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9E8D-A8F6-DAA5-2D1B-C1F1C2BB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E2CD-E456-A713-5896-CAF5A69F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95" y="326571"/>
            <a:ext cx="10515600" cy="615821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8563A15-39B4-CAD0-D532-D7E8AE942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857920"/>
              </p:ext>
            </p:extLst>
          </p:nvPr>
        </p:nvGraphicFramePr>
        <p:xfrm>
          <a:off x="287695" y="1073150"/>
          <a:ext cx="1161661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823">
                  <a:extLst>
                    <a:ext uri="{9D8B030D-6E8A-4147-A177-3AD203B41FA5}">
                      <a16:colId xmlns:a16="http://schemas.microsoft.com/office/drawing/2014/main" val="118478506"/>
                    </a:ext>
                  </a:extLst>
                </a:gridCol>
                <a:gridCol w="1754155">
                  <a:extLst>
                    <a:ext uri="{9D8B030D-6E8A-4147-A177-3AD203B41FA5}">
                      <a16:colId xmlns:a16="http://schemas.microsoft.com/office/drawing/2014/main" val="3089332847"/>
                    </a:ext>
                  </a:extLst>
                </a:gridCol>
                <a:gridCol w="2491273">
                  <a:extLst>
                    <a:ext uri="{9D8B030D-6E8A-4147-A177-3AD203B41FA5}">
                      <a16:colId xmlns:a16="http://schemas.microsoft.com/office/drawing/2014/main" val="4027388481"/>
                    </a:ext>
                  </a:extLst>
                </a:gridCol>
                <a:gridCol w="2593910">
                  <a:extLst>
                    <a:ext uri="{9D8B030D-6E8A-4147-A177-3AD203B41FA5}">
                      <a16:colId xmlns:a16="http://schemas.microsoft.com/office/drawing/2014/main" val="1990159732"/>
                    </a:ext>
                  </a:extLst>
                </a:gridCol>
                <a:gridCol w="3032449">
                  <a:extLst>
                    <a:ext uri="{9D8B030D-6E8A-4147-A177-3AD203B41FA5}">
                      <a16:colId xmlns:a16="http://schemas.microsoft.com/office/drawing/2014/main" val="3827043526"/>
                    </a:ext>
                  </a:extLst>
                </a:gridCol>
              </a:tblGrid>
              <a:tr h="6106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Authors/Year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Proposed Architecture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Key findings</a:t>
                      </a:r>
                      <a:endParaRPr lang="en-IN" dirty="0"/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Drawbacks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611113"/>
                  </a:ext>
                </a:extLst>
              </a:tr>
              <a:tr h="2155476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Vijetha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Self-Adaptive Threat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AISAF (CNN-LSTM-Transformer + Meta-Optimization)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Autonomously detects concept drift without </a:t>
                      </a:r>
                      <a:r>
                        <a:rPr lang="en-US" dirty="0" err="1"/>
                        <a:t>explicitdensity</a:t>
                      </a:r>
                      <a:r>
                        <a:rPr lang="en-US" dirty="0"/>
                        <a:t> estimation and selectively retrains submodules, achieving rapid recovery.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Currently relies on fixed window segmentation, which may underperform in ultra-low-latency streams where drift occurs at sub-millisecond timescales. Explainability remains feature-centric and lacks causal reasoning.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70747"/>
                  </a:ext>
                </a:extLst>
              </a:tr>
              <a:tr h="1896819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Panwar &amp; Abdelrahman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Agentic AI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N/A (Literature &amp; Framework Review)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Outlined the shift to autonomous Agentic AI, highlighting the need for self-learning security models and human-AI collaboration.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Highlights inherent risks in autonomous systems, including AI bias from training data, susceptibility to adversarial manipulation, and the dangers of completely removing human oversight.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1899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2E83F-0171-E488-3D1F-CAFDB10D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AA6D-9CA5-C06F-C2C9-AFA059AD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EDDEC-2475-B7C8-88E2-4169439E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95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5C46B-0CB7-C8D8-1DBE-9B0A8154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27-03-26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A000D-3AB4-2CDB-1896-D79134A5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JSSATEB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3AB6C-BFE9-8A1A-EAD3-A113B584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8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EDE334-9031-6EF7-1C16-F39AEC52D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" y="136525"/>
            <a:ext cx="11140440" cy="62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1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59FA-6931-0548-482C-65FBD10F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CECF7-BFB1-C3E7-1955-75EC03F30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97806-29B8-B85F-1339-50C626DD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FEC9FF-7957-1303-4965-520E2022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708660"/>
            <a:ext cx="11715750" cy="541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14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F273-C64E-7A2B-1B1E-FCA09E2B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136526"/>
            <a:ext cx="10515600" cy="777874"/>
          </a:xfrm>
        </p:spPr>
        <p:txBody>
          <a:bodyPr>
            <a:normAutofit/>
          </a:bodyPr>
          <a:lstStyle/>
          <a:p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68BB1C-A60C-C78C-9AE3-1C52AA9FF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246" y="1052830"/>
            <a:ext cx="9307830" cy="53035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848BC-AD49-6EA9-F0ED-D4C729D4E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D90E-BC44-992A-2066-CE1A24A4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0454-4900-B3B8-6274-675EA580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66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B1E84-B873-5DF8-B9D8-49D6980C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7247-655E-203B-BEB2-E3D38B7D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2058"/>
            <a:ext cx="10515600" cy="1325563"/>
          </a:xfrm>
        </p:spPr>
        <p:txBody>
          <a:bodyPr>
            <a:normAutofit/>
          </a:bodyPr>
          <a:lstStyle/>
          <a:p>
            <a:r>
              <a:rPr lang="en-I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47D92-9AFA-F6BF-EB8A-31FB8D89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16" y="1825625"/>
            <a:ext cx="6492464" cy="62139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4000" b="1" dirty="0"/>
              <a:t>Techniques, Tools &amp; Technologies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3082-9566-8329-D3C9-33F4350B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C81D5-B169-A419-31FE-DFBF7C7A9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0BE1-0E8C-2584-A810-65B1CD91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11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734193-EE04-D0B1-263C-59406AF2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16" y="2447022"/>
            <a:ext cx="1086656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Edge Compute (Worker Nodes):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PyTorch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the training loop), Tabular Transformers.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 Orchestration (The Brain):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AWS API Gateway (secure bridging), AWS Lambda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FedAvg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aggregation), and AWS S3 (master model repository).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&amp; Threat Simulation: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mitmproxy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livetraffic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parsing) and the UNSW-NB15</a:t>
            </a:r>
            <a:r>
              <a:rPr lang="en-US" altLang="en-US" sz="2800" dirty="0"/>
              <a:t>,CICIDS17,CICIDS18,BoT-IoT,CICIoT2023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6583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ribbon with white text&#10;&#10;Description automatically generated">
            <a:extLst>
              <a:ext uri="{FF2B5EF4-FFF2-40B4-BE49-F238E27FC236}">
                <a16:creationId xmlns:a16="http://schemas.microsoft.com/office/drawing/2014/main" id="{EB3272C8-4FE1-EE98-BE03-C4EC99D33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946" y="361459"/>
            <a:ext cx="8180107" cy="6135081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32DC7-04A5-A438-ACA9-1E76149C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27-03-26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8A635-EE11-DF6C-1067-A203AEDC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ISE, JSSATEB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2651-9F94-E575-2DAD-B90883A7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CE1F-198B-4538-8015-D27AAC91BD1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745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Agentic FedGrid: Autonomous Privacy-Preserving Threat Detection</vt:lpstr>
      <vt:lpstr>Overview </vt:lpstr>
      <vt:lpstr>Introduction</vt:lpstr>
      <vt:lpstr>Project Overview</vt:lpstr>
      <vt:lpstr>Objective</vt:lpstr>
      <vt:lpstr>Literature Survey</vt:lpstr>
      <vt:lpstr>Literature Survey</vt:lpstr>
      <vt:lpstr>PowerPoint Presentation</vt:lpstr>
      <vt:lpstr>PowerPoint Presentation</vt:lpstr>
      <vt:lpstr>Methodology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 – 21CS52</dc:title>
  <dc:creator>HH4499</dc:creator>
  <cp:lastModifiedBy>MOHITH KUMAR M</cp:lastModifiedBy>
  <cp:revision>12</cp:revision>
  <dcterms:created xsi:type="dcterms:W3CDTF">2023-12-05T10:45:40Z</dcterms:created>
  <dcterms:modified xsi:type="dcterms:W3CDTF">2026-05-04T04:25:53Z</dcterms:modified>
</cp:coreProperties>
</file>